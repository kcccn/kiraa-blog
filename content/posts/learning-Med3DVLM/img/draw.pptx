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51120675" cy="5112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6738" y="-9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34051" y="8366281"/>
            <a:ext cx="43452574" cy="17797568"/>
          </a:xfrm>
        </p:spPr>
        <p:txBody>
          <a:bodyPr anchor="b"/>
          <a:lstStyle>
            <a:lvl1pPr algn="ctr">
              <a:defRPr sz="335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90085" y="26850192"/>
            <a:ext cx="38340506" cy="12342326"/>
          </a:xfrm>
        </p:spPr>
        <p:txBody>
          <a:bodyPr/>
          <a:lstStyle>
            <a:lvl1pPr marL="0" indent="0" algn="ctr">
              <a:buNone/>
              <a:defRPr sz="13417"/>
            </a:lvl1pPr>
            <a:lvl2pPr marL="2556022" indent="0" algn="ctr">
              <a:buNone/>
              <a:defRPr sz="11181"/>
            </a:lvl2pPr>
            <a:lvl3pPr marL="5112045" indent="0" algn="ctr">
              <a:buNone/>
              <a:defRPr sz="10063"/>
            </a:lvl3pPr>
            <a:lvl4pPr marL="7668067" indent="0" algn="ctr">
              <a:buNone/>
              <a:defRPr sz="8945"/>
            </a:lvl4pPr>
            <a:lvl5pPr marL="10224089" indent="0" algn="ctr">
              <a:buNone/>
              <a:defRPr sz="8945"/>
            </a:lvl5pPr>
            <a:lvl6pPr marL="12780112" indent="0" algn="ctr">
              <a:buNone/>
              <a:defRPr sz="8945"/>
            </a:lvl6pPr>
            <a:lvl7pPr marL="15336134" indent="0" algn="ctr">
              <a:buNone/>
              <a:defRPr sz="8945"/>
            </a:lvl7pPr>
            <a:lvl8pPr marL="17892156" indent="0" algn="ctr">
              <a:buNone/>
              <a:defRPr sz="8945"/>
            </a:lvl8pPr>
            <a:lvl9pPr marL="20448179" indent="0" algn="ctr">
              <a:buNone/>
              <a:defRPr sz="894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3145-B836-4355-A013-02A7D16E1108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0338-FC33-4890-92F2-9DD2F4850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779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3145-B836-4355-A013-02A7D16E1108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0338-FC33-4890-92F2-9DD2F4850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28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924" y="12744683"/>
            <a:ext cx="44091582" cy="21264777"/>
          </a:xfrm>
        </p:spPr>
        <p:txBody>
          <a:bodyPr anchor="b"/>
          <a:lstStyle>
            <a:lvl1pPr>
              <a:defRPr sz="335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7924" y="34210633"/>
            <a:ext cx="44091582" cy="11182644"/>
          </a:xfrm>
        </p:spPr>
        <p:txBody>
          <a:bodyPr/>
          <a:lstStyle>
            <a:lvl1pPr marL="0" indent="0">
              <a:buNone/>
              <a:defRPr sz="13417">
                <a:solidFill>
                  <a:schemeClr val="tx1"/>
                </a:solidFill>
              </a:defRPr>
            </a:lvl1pPr>
            <a:lvl2pPr marL="2556022" indent="0">
              <a:buNone/>
              <a:defRPr sz="11181">
                <a:solidFill>
                  <a:schemeClr val="tx1">
                    <a:tint val="75000"/>
                  </a:schemeClr>
                </a:solidFill>
              </a:defRPr>
            </a:lvl2pPr>
            <a:lvl3pPr marL="5112045" indent="0">
              <a:buNone/>
              <a:defRPr sz="10063">
                <a:solidFill>
                  <a:schemeClr val="tx1">
                    <a:tint val="75000"/>
                  </a:schemeClr>
                </a:solidFill>
              </a:defRPr>
            </a:lvl3pPr>
            <a:lvl4pPr marL="7668067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4pPr>
            <a:lvl5pPr marL="10224089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5pPr>
            <a:lvl6pPr marL="12780112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6pPr>
            <a:lvl7pPr marL="15336134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7pPr>
            <a:lvl8pPr marL="17892156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8pPr>
            <a:lvl9pPr marL="20448179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3145-B836-4355-A013-02A7D16E1108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0338-FC33-4890-92F2-9DD2F4850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567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14546" y="13608513"/>
            <a:ext cx="21726287" cy="324355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79842" y="13608513"/>
            <a:ext cx="21726287" cy="324355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3145-B836-4355-A013-02A7D16E1108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0338-FC33-4890-92F2-9DD2F4850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952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5" y="2721714"/>
            <a:ext cx="44091582" cy="988096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1211" y="12531669"/>
            <a:ext cx="21626438" cy="6141577"/>
          </a:xfrm>
        </p:spPr>
        <p:txBody>
          <a:bodyPr anchor="b"/>
          <a:lstStyle>
            <a:lvl1pPr marL="0" indent="0">
              <a:buNone/>
              <a:defRPr sz="13417" b="1"/>
            </a:lvl1pPr>
            <a:lvl2pPr marL="2556022" indent="0">
              <a:buNone/>
              <a:defRPr sz="11181" b="1"/>
            </a:lvl2pPr>
            <a:lvl3pPr marL="5112045" indent="0">
              <a:buNone/>
              <a:defRPr sz="10063" b="1"/>
            </a:lvl3pPr>
            <a:lvl4pPr marL="7668067" indent="0">
              <a:buNone/>
              <a:defRPr sz="8945" b="1"/>
            </a:lvl4pPr>
            <a:lvl5pPr marL="10224089" indent="0">
              <a:buNone/>
              <a:defRPr sz="8945" b="1"/>
            </a:lvl5pPr>
            <a:lvl6pPr marL="12780112" indent="0">
              <a:buNone/>
              <a:defRPr sz="8945" b="1"/>
            </a:lvl6pPr>
            <a:lvl7pPr marL="15336134" indent="0">
              <a:buNone/>
              <a:defRPr sz="8945" b="1"/>
            </a:lvl7pPr>
            <a:lvl8pPr marL="17892156" indent="0">
              <a:buNone/>
              <a:defRPr sz="8945" b="1"/>
            </a:lvl8pPr>
            <a:lvl9pPr marL="20448179" indent="0">
              <a:buNone/>
              <a:defRPr sz="894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1211" y="18673247"/>
            <a:ext cx="21626438" cy="274655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879845" y="12531669"/>
            <a:ext cx="21732945" cy="6141577"/>
          </a:xfrm>
        </p:spPr>
        <p:txBody>
          <a:bodyPr anchor="b"/>
          <a:lstStyle>
            <a:lvl1pPr marL="0" indent="0">
              <a:buNone/>
              <a:defRPr sz="13417" b="1"/>
            </a:lvl1pPr>
            <a:lvl2pPr marL="2556022" indent="0">
              <a:buNone/>
              <a:defRPr sz="11181" b="1"/>
            </a:lvl2pPr>
            <a:lvl3pPr marL="5112045" indent="0">
              <a:buNone/>
              <a:defRPr sz="10063" b="1"/>
            </a:lvl3pPr>
            <a:lvl4pPr marL="7668067" indent="0">
              <a:buNone/>
              <a:defRPr sz="8945" b="1"/>
            </a:lvl4pPr>
            <a:lvl5pPr marL="10224089" indent="0">
              <a:buNone/>
              <a:defRPr sz="8945" b="1"/>
            </a:lvl5pPr>
            <a:lvl6pPr marL="12780112" indent="0">
              <a:buNone/>
              <a:defRPr sz="8945" b="1"/>
            </a:lvl6pPr>
            <a:lvl7pPr marL="15336134" indent="0">
              <a:buNone/>
              <a:defRPr sz="8945" b="1"/>
            </a:lvl7pPr>
            <a:lvl8pPr marL="17892156" indent="0">
              <a:buNone/>
              <a:defRPr sz="8945" b="1"/>
            </a:lvl8pPr>
            <a:lvl9pPr marL="20448179" indent="0">
              <a:buNone/>
              <a:defRPr sz="894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879845" y="18673247"/>
            <a:ext cx="21732945" cy="274655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3145-B836-4355-A013-02A7D16E1108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0338-FC33-4890-92F2-9DD2F4850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463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3145-B836-4355-A013-02A7D16E1108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0338-FC33-4890-92F2-9DD2F4850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75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3145-B836-4355-A013-02A7D16E1108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0338-FC33-4890-92F2-9DD2F4850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404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5" y="3408045"/>
            <a:ext cx="16487748" cy="11928158"/>
          </a:xfrm>
        </p:spPr>
        <p:txBody>
          <a:bodyPr anchor="b"/>
          <a:lstStyle>
            <a:lvl1pPr>
              <a:defRPr sz="178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32945" y="7360442"/>
            <a:ext cx="25879842" cy="36328813"/>
          </a:xfrm>
        </p:spPr>
        <p:txBody>
          <a:bodyPr/>
          <a:lstStyle>
            <a:lvl1pPr>
              <a:defRPr sz="17890"/>
            </a:lvl1pPr>
            <a:lvl2pPr>
              <a:defRPr sz="15654"/>
            </a:lvl2pPr>
            <a:lvl3pPr>
              <a:defRPr sz="13417"/>
            </a:lvl3pPr>
            <a:lvl4pPr>
              <a:defRPr sz="11181"/>
            </a:lvl4pPr>
            <a:lvl5pPr>
              <a:defRPr sz="11181"/>
            </a:lvl5pPr>
            <a:lvl6pPr>
              <a:defRPr sz="11181"/>
            </a:lvl6pPr>
            <a:lvl7pPr>
              <a:defRPr sz="11181"/>
            </a:lvl7pPr>
            <a:lvl8pPr>
              <a:defRPr sz="11181"/>
            </a:lvl8pPr>
            <a:lvl9pPr>
              <a:defRPr sz="1118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1205" y="15336203"/>
            <a:ext cx="16487748" cy="28412212"/>
          </a:xfrm>
        </p:spPr>
        <p:txBody>
          <a:bodyPr/>
          <a:lstStyle>
            <a:lvl1pPr marL="0" indent="0">
              <a:buNone/>
              <a:defRPr sz="8945"/>
            </a:lvl1pPr>
            <a:lvl2pPr marL="2556022" indent="0">
              <a:buNone/>
              <a:defRPr sz="7827"/>
            </a:lvl2pPr>
            <a:lvl3pPr marL="5112045" indent="0">
              <a:buNone/>
              <a:defRPr sz="6709"/>
            </a:lvl3pPr>
            <a:lvl4pPr marL="7668067" indent="0">
              <a:buNone/>
              <a:defRPr sz="5591"/>
            </a:lvl4pPr>
            <a:lvl5pPr marL="10224089" indent="0">
              <a:buNone/>
              <a:defRPr sz="5591"/>
            </a:lvl5pPr>
            <a:lvl6pPr marL="12780112" indent="0">
              <a:buNone/>
              <a:defRPr sz="5591"/>
            </a:lvl6pPr>
            <a:lvl7pPr marL="15336134" indent="0">
              <a:buNone/>
              <a:defRPr sz="5591"/>
            </a:lvl7pPr>
            <a:lvl8pPr marL="17892156" indent="0">
              <a:buNone/>
              <a:defRPr sz="5591"/>
            </a:lvl8pPr>
            <a:lvl9pPr marL="20448179" indent="0">
              <a:buNone/>
              <a:defRPr sz="559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3145-B836-4355-A013-02A7D16E1108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0338-FC33-4890-92F2-9DD2F4850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73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5" y="3408045"/>
            <a:ext cx="16487748" cy="11928158"/>
          </a:xfrm>
        </p:spPr>
        <p:txBody>
          <a:bodyPr anchor="b"/>
          <a:lstStyle>
            <a:lvl1pPr>
              <a:defRPr sz="178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32945" y="7360442"/>
            <a:ext cx="25879842" cy="36328813"/>
          </a:xfrm>
        </p:spPr>
        <p:txBody>
          <a:bodyPr anchor="t"/>
          <a:lstStyle>
            <a:lvl1pPr marL="0" indent="0">
              <a:buNone/>
              <a:defRPr sz="17890"/>
            </a:lvl1pPr>
            <a:lvl2pPr marL="2556022" indent="0">
              <a:buNone/>
              <a:defRPr sz="15654"/>
            </a:lvl2pPr>
            <a:lvl3pPr marL="5112045" indent="0">
              <a:buNone/>
              <a:defRPr sz="13417"/>
            </a:lvl3pPr>
            <a:lvl4pPr marL="7668067" indent="0">
              <a:buNone/>
              <a:defRPr sz="11181"/>
            </a:lvl4pPr>
            <a:lvl5pPr marL="10224089" indent="0">
              <a:buNone/>
              <a:defRPr sz="11181"/>
            </a:lvl5pPr>
            <a:lvl6pPr marL="12780112" indent="0">
              <a:buNone/>
              <a:defRPr sz="11181"/>
            </a:lvl6pPr>
            <a:lvl7pPr marL="15336134" indent="0">
              <a:buNone/>
              <a:defRPr sz="11181"/>
            </a:lvl7pPr>
            <a:lvl8pPr marL="17892156" indent="0">
              <a:buNone/>
              <a:defRPr sz="11181"/>
            </a:lvl8pPr>
            <a:lvl9pPr marL="20448179" indent="0">
              <a:buNone/>
              <a:defRPr sz="1118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1205" y="15336203"/>
            <a:ext cx="16487748" cy="28412212"/>
          </a:xfrm>
        </p:spPr>
        <p:txBody>
          <a:bodyPr/>
          <a:lstStyle>
            <a:lvl1pPr marL="0" indent="0">
              <a:buNone/>
              <a:defRPr sz="8945"/>
            </a:lvl1pPr>
            <a:lvl2pPr marL="2556022" indent="0">
              <a:buNone/>
              <a:defRPr sz="7827"/>
            </a:lvl2pPr>
            <a:lvl3pPr marL="5112045" indent="0">
              <a:buNone/>
              <a:defRPr sz="6709"/>
            </a:lvl3pPr>
            <a:lvl4pPr marL="7668067" indent="0">
              <a:buNone/>
              <a:defRPr sz="5591"/>
            </a:lvl4pPr>
            <a:lvl5pPr marL="10224089" indent="0">
              <a:buNone/>
              <a:defRPr sz="5591"/>
            </a:lvl5pPr>
            <a:lvl6pPr marL="12780112" indent="0">
              <a:buNone/>
              <a:defRPr sz="5591"/>
            </a:lvl6pPr>
            <a:lvl7pPr marL="15336134" indent="0">
              <a:buNone/>
              <a:defRPr sz="5591"/>
            </a:lvl7pPr>
            <a:lvl8pPr marL="17892156" indent="0">
              <a:buNone/>
              <a:defRPr sz="5591"/>
            </a:lvl8pPr>
            <a:lvl9pPr marL="20448179" indent="0">
              <a:buNone/>
              <a:defRPr sz="559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3145-B836-4355-A013-02A7D16E1108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0338-FC33-4890-92F2-9DD2F4850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81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3145-B836-4355-A013-02A7D16E1108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0338-FC33-4890-92F2-9DD2F4850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25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583236" y="2721703"/>
            <a:ext cx="11022896" cy="4332240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14549" y="2721703"/>
            <a:ext cx="32429678" cy="4332240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3145-B836-4355-A013-02A7D16E1108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0338-FC33-4890-92F2-9DD2F4850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282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14547" y="2721714"/>
            <a:ext cx="44091582" cy="9880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4547" y="13608513"/>
            <a:ext cx="44091582" cy="32435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14546" y="47381303"/>
            <a:ext cx="11502152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E3145-B836-4355-A013-02A7D16E1108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33724" y="47381303"/>
            <a:ext cx="17253228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03977" y="47381303"/>
            <a:ext cx="11502152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60338-FC33-4890-92F2-9DD2F4850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49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12045" rtl="0" eaLnBrk="1" latinLnBrk="0" hangingPunct="1">
        <a:lnSpc>
          <a:spcPct val="90000"/>
        </a:lnSpc>
        <a:spcBef>
          <a:spcPct val="0"/>
        </a:spcBef>
        <a:buNone/>
        <a:defRPr sz="24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78011" indent="-1278011" algn="l" defTabSz="5112045" rtl="0" eaLnBrk="1" latinLnBrk="0" hangingPunct="1">
        <a:lnSpc>
          <a:spcPct val="90000"/>
        </a:lnSpc>
        <a:spcBef>
          <a:spcPts val="5591"/>
        </a:spcBef>
        <a:buFont typeface="Arial" panose="020B0604020202020204" pitchFamily="34" charset="0"/>
        <a:buChar char="•"/>
        <a:defRPr sz="15654" kern="1200">
          <a:solidFill>
            <a:schemeClr val="tx1"/>
          </a:solidFill>
          <a:latin typeface="+mn-lt"/>
          <a:ea typeface="+mn-ea"/>
          <a:cs typeface="+mn-cs"/>
        </a:defRPr>
      </a:lvl1pPr>
      <a:lvl2pPr marL="3834033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3417" kern="1200">
          <a:solidFill>
            <a:schemeClr val="tx1"/>
          </a:solidFill>
          <a:latin typeface="+mn-lt"/>
          <a:ea typeface="+mn-ea"/>
          <a:cs typeface="+mn-cs"/>
        </a:defRPr>
      </a:lvl2pPr>
      <a:lvl3pPr marL="6390056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1181" kern="1200">
          <a:solidFill>
            <a:schemeClr val="tx1"/>
          </a:solidFill>
          <a:latin typeface="+mn-lt"/>
          <a:ea typeface="+mn-ea"/>
          <a:cs typeface="+mn-cs"/>
        </a:defRPr>
      </a:lvl3pPr>
      <a:lvl4pPr marL="8946078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4pPr>
      <a:lvl5pPr marL="11502100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5pPr>
      <a:lvl6pPr marL="14058123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6pPr>
      <a:lvl7pPr marL="16614145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7pPr>
      <a:lvl8pPr marL="19170167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8pPr>
      <a:lvl9pPr marL="21726190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1pPr>
      <a:lvl2pPr marL="2556022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2pPr>
      <a:lvl3pPr marL="5112045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3pPr>
      <a:lvl4pPr marL="7668067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4pPr>
      <a:lvl5pPr marL="10224089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5pPr>
      <a:lvl6pPr marL="12780112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6pPr>
      <a:lvl7pPr marL="15336134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7pPr>
      <a:lvl8pPr marL="17892156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8pPr>
      <a:lvl9pPr marL="20448179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204E26B-64B0-8480-90C8-FBC9E2D68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925" y="21093112"/>
            <a:ext cx="9753600" cy="532447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3231C49-1412-206C-4AAE-80D48AECDBE6}"/>
              </a:ext>
            </a:extLst>
          </p:cNvPr>
          <p:cNvSpPr/>
          <p:nvPr/>
        </p:nvSpPr>
        <p:spPr>
          <a:xfrm>
            <a:off x="26760487" y="25931814"/>
            <a:ext cx="357188" cy="485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14EA81-82B0-011B-91D5-63DF1452C982}"/>
              </a:ext>
            </a:extLst>
          </p:cNvPr>
          <p:cNvSpPr/>
          <p:nvPr/>
        </p:nvSpPr>
        <p:spPr>
          <a:xfrm>
            <a:off x="27117676" y="26417587"/>
            <a:ext cx="400051" cy="63817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AF5D3F-4F3A-88C9-D16D-7FBFCB004B8E}"/>
              </a:ext>
            </a:extLst>
          </p:cNvPr>
          <p:cNvSpPr/>
          <p:nvPr/>
        </p:nvSpPr>
        <p:spPr>
          <a:xfrm>
            <a:off x="28578573" y="25955627"/>
            <a:ext cx="397669" cy="485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2C9812-884B-C02B-8593-302DBDBB1BE6}"/>
              </a:ext>
            </a:extLst>
          </p:cNvPr>
          <p:cNvSpPr/>
          <p:nvPr/>
        </p:nvSpPr>
        <p:spPr>
          <a:xfrm>
            <a:off x="29637039" y="25888951"/>
            <a:ext cx="161925" cy="30956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9F130A-0236-D8AC-C7C1-AAF9562E8413}"/>
              </a:ext>
            </a:extLst>
          </p:cNvPr>
          <p:cNvSpPr/>
          <p:nvPr/>
        </p:nvSpPr>
        <p:spPr>
          <a:xfrm>
            <a:off x="1398842" y="12702920"/>
            <a:ext cx="3152775" cy="942975"/>
          </a:xfrm>
          <a:prstGeom prst="rect">
            <a:avLst/>
          </a:prstGeom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输入特征 </a:t>
            </a:r>
            <a:r>
              <a:rPr lang="en-US" altLang="zh-CN" dirty="0"/>
              <a:t>(B, C, 512, 512, 256)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4D5564-FC18-BFED-5986-5B20097A0480}"/>
              </a:ext>
            </a:extLst>
          </p:cNvPr>
          <p:cNvSpPr/>
          <p:nvPr/>
        </p:nvSpPr>
        <p:spPr>
          <a:xfrm>
            <a:off x="4675251" y="12702920"/>
            <a:ext cx="2376488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DecomposedStem	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6FEF9-AC8C-402E-73FD-E45C21460117}"/>
              </a:ext>
            </a:extLst>
          </p:cNvPr>
          <p:cNvSpPr/>
          <p:nvPr/>
        </p:nvSpPr>
        <p:spPr>
          <a:xfrm>
            <a:off x="7175374" y="12702920"/>
            <a:ext cx="2376488" cy="942975"/>
          </a:xfrm>
          <a:prstGeom prst="rect">
            <a:avLst/>
          </a:prstGeom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（</a:t>
            </a:r>
            <a:r>
              <a:rPr lang="en-US" altLang="zh-CN" dirty="0"/>
              <a:t>B,</a:t>
            </a:r>
            <a:r>
              <a:rPr lang="zh-CN" altLang="en-US" dirty="0"/>
              <a:t> </a:t>
            </a:r>
            <a:r>
              <a:rPr lang="en-US" altLang="zh-CN" dirty="0"/>
              <a:t>64,</a:t>
            </a:r>
            <a:r>
              <a:rPr lang="zh-CN" altLang="en-US" dirty="0"/>
              <a:t> </a:t>
            </a:r>
            <a:r>
              <a:rPr lang="en-US" altLang="zh-CN" dirty="0"/>
              <a:t>128, 128, 64)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4D5564-FC18-BFED-5986-5B20097A0480}"/>
              </a:ext>
            </a:extLst>
          </p:cNvPr>
          <p:cNvSpPr/>
          <p:nvPr/>
        </p:nvSpPr>
        <p:spPr>
          <a:xfrm>
            <a:off x="4798886" y="13798297"/>
            <a:ext cx="2376488" cy="9429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降采样 </a:t>
            </a:r>
            <a:r>
              <a:rPr lang="en-US" altLang="zh-CN" dirty="0"/>
              <a:t>&amp; </a:t>
            </a:r>
            <a:r>
              <a:rPr lang="zh-CN" altLang="en-US" dirty="0"/>
              <a:t>通道数调整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A8F442-E2E5-B7FA-C301-0433908709A9}"/>
              </a:ext>
            </a:extLst>
          </p:cNvPr>
          <p:cNvSpPr/>
          <p:nvPr/>
        </p:nvSpPr>
        <p:spPr>
          <a:xfrm>
            <a:off x="7308725" y="13798296"/>
            <a:ext cx="2376488" cy="942975"/>
          </a:xfrm>
          <a:prstGeom prst="rect">
            <a:avLst/>
          </a:prstGeom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（</a:t>
            </a:r>
            <a:r>
              <a:rPr lang="en-US" altLang="zh-CN" dirty="0"/>
              <a:t>B,</a:t>
            </a:r>
            <a:r>
              <a:rPr lang="zh-CN" altLang="en-US" dirty="0"/>
              <a:t> </a:t>
            </a:r>
            <a:r>
              <a:rPr lang="en-US" altLang="zh-CN" dirty="0"/>
              <a:t>96,</a:t>
            </a:r>
            <a:r>
              <a:rPr lang="zh-CN" altLang="en-US" dirty="0"/>
              <a:t> </a:t>
            </a:r>
            <a:r>
              <a:rPr lang="en-US" altLang="zh-CN" dirty="0"/>
              <a:t>64, 64, 32)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F11E56-FA06-1EF8-91B1-DD0CF04EA9F8}"/>
              </a:ext>
            </a:extLst>
          </p:cNvPr>
          <p:cNvSpPr/>
          <p:nvPr/>
        </p:nvSpPr>
        <p:spPr>
          <a:xfrm>
            <a:off x="5128070" y="14893672"/>
            <a:ext cx="2376488" cy="9429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降采样 </a:t>
            </a:r>
            <a:r>
              <a:rPr lang="en-US" altLang="zh-CN" dirty="0"/>
              <a:t>&amp; </a:t>
            </a:r>
            <a:r>
              <a:rPr lang="zh-CN" altLang="en-US" dirty="0"/>
              <a:t>通道数调整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3CE277-D616-2EB0-7866-DE2B8E72B7A5}"/>
              </a:ext>
            </a:extLst>
          </p:cNvPr>
          <p:cNvSpPr/>
          <p:nvPr/>
        </p:nvSpPr>
        <p:spPr>
          <a:xfrm>
            <a:off x="7637909" y="14893671"/>
            <a:ext cx="2376488" cy="942975"/>
          </a:xfrm>
          <a:prstGeom prst="rect">
            <a:avLst/>
          </a:prstGeom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（</a:t>
            </a:r>
            <a:r>
              <a:rPr lang="en-US" altLang="zh-CN" dirty="0"/>
              <a:t>B,</a:t>
            </a:r>
            <a:r>
              <a:rPr lang="zh-CN" altLang="en-US" dirty="0"/>
              <a:t> </a:t>
            </a:r>
            <a:r>
              <a:rPr lang="en-US" altLang="zh-CN" dirty="0"/>
              <a:t>192,</a:t>
            </a:r>
            <a:r>
              <a:rPr lang="zh-CN" altLang="en-US" dirty="0"/>
              <a:t> </a:t>
            </a:r>
            <a:r>
              <a:rPr lang="en-US" altLang="zh-CN" dirty="0"/>
              <a:t>32, 32, 16)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0CA1BC-2385-5EDD-B728-4410DCE01301}"/>
              </a:ext>
            </a:extLst>
          </p:cNvPr>
          <p:cNvSpPr/>
          <p:nvPr/>
        </p:nvSpPr>
        <p:spPr>
          <a:xfrm>
            <a:off x="5542598" y="15989047"/>
            <a:ext cx="2376488" cy="9429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降采样 </a:t>
            </a:r>
            <a:r>
              <a:rPr lang="en-US" altLang="zh-CN" dirty="0"/>
              <a:t>&amp; </a:t>
            </a:r>
            <a:r>
              <a:rPr lang="zh-CN" altLang="en-US" dirty="0"/>
              <a:t>通道数调整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40CAC6-3C5A-237C-0383-A6BA929623DE}"/>
              </a:ext>
            </a:extLst>
          </p:cNvPr>
          <p:cNvSpPr/>
          <p:nvPr/>
        </p:nvSpPr>
        <p:spPr>
          <a:xfrm>
            <a:off x="8052437" y="15989046"/>
            <a:ext cx="2376488" cy="942975"/>
          </a:xfrm>
          <a:prstGeom prst="rect">
            <a:avLst/>
          </a:prstGeom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（</a:t>
            </a:r>
            <a:r>
              <a:rPr lang="en-US" altLang="zh-CN" dirty="0"/>
              <a:t>B,</a:t>
            </a:r>
            <a:r>
              <a:rPr lang="zh-CN" altLang="en-US" dirty="0"/>
              <a:t> </a:t>
            </a:r>
            <a:r>
              <a:rPr lang="en-US" altLang="zh-CN" dirty="0"/>
              <a:t>384,</a:t>
            </a:r>
            <a:r>
              <a:rPr lang="zh-CN" altLang="en-US" dirty="0"/>
              <a:t> </a:t>
            </a:r>
            <a:r>
              <a:rPr lang="en-US" altLang="zh-CN" dirty="0"/>
              <a:t>16, 16, 8)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0BCDFB-5CE4-5A81-39BE-C78A960C3767}"/>
              </a:ext>
            </a:extLst>
          </p:cNvPr>
          <p:cNvSpPr/>
          <p:nvPr/>
        </p:nvSpPr>
        <p:spPr>
          <a:xfrm>
            <a:off x="5996846" y="17084421"/>
            <a:ext cx="2376488" cy="9429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降采样 </a:t>
            </a:r>
            <a:r>
              <a:rPr lang="en-US" altLang="zh-CN" dirty="0"/>
              <a:t>&amp; </a:t>
            </a:r>
            <a:r>
              <a:rPr lang="zh-CN" altLang="en-US" dirty="0"/>
              <a:t>通道数调整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F8E861-898A-9BBC-F297-2E28053E07C9}"/>
              </a:ext>
            </a:extLst>
          </p:cNvPr>
          <p:cNvSpPr/>
          <p:nvPr/>
        </p:nvSpPr>
        <p:spPr>
          <a:xfrm>
            <a:off x="8506685" y="17084420"/>
            <a:ext cx="2376488" cy="942975"/>
          </a:xfrm>
          <a:prstGeom prst="rect">
            <a:avLst/>
          </a:prstGeom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（</a:t>
            </a:r>
            <a:r>
              <a:rPr lang="en-US" altLang="zh-CN" dirty="0"/>
              <a:t>B,</a:t>
            </a:r>
            <a:r>
              <a:rPr lang="zh-CN" altLang="en-US" dirty="0"/>
              <a:t> </a:t>
            </a:r>
            <a:r>
              <a:rPr lang="en-US" altLang="zh-CN" dirty="0"/>
              <a:t>768,</a:t>
            </a:r>
            <a:r>
              <a:rPr lang="zh-CN" altLang="en-US" dirty="0"/>
              <a:t> </a:t>
            </a:r>
            <a:r>
              <a:rPr lang="en-US" altLang="zh-CN" dirty="0"/>
              <a:t>8, 8, 4)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6F96849-CEC5-0EAC-F2A4-983261BB4887}"/>
              </a:ext>
            </a:extLst>
          </p:cNvPr>
          <p:cNvSpPr/>
          <p:nvPr/>
        </p:nvSpPr>
        <p:spPr>
          <a:xfrm>
            <a:off x="9818564" y="13798296"/>
            <a:ext cx="1247774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ConvBlock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A5808C-81F4-EAFD-286A-BBC83E9AF9C7}"/>
              </a:ext>
            </a:extLst>
          </p:cNvPr>
          <p:cNvSpPr/>
          <p:nvPr/>
        </p:nvSpPr>
        <p:spPr>
          <a:xfrm>
            <a:off x="11190163" y="13798295"/>
            <a:ext cx="1247774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ConvBlock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AE3BF14-E210-EA5D-4629-A2B0079957A9}"/>
              </a:ext>
            </a:extLst>
          </p:cNvPr>
          <p:cNvSpPr/>
          <p:nvPr/>
        </p:nvSpPr>
        <p:spPr>
          <a:xfrm>
            <a:off x="10147748" y="14893671"/>
            <a:ext cx="1247774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ConvBlock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25F970-0D33-D7AC-4D0A-FA1E16AD09ED}"/>
              </a:ext>
            </a:extLst>
          </p:cNvPr>
          <p:cNvSpPr/>
          <p:nvPr/>
        </p:nvSpPr>
        <p:spPr>
          <a:xfrm>
            <a:off x="11519347" y="14893670"/>
            <a:ext cx="1247774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ConvBlock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9D36A02-88A8-0C00-525D-444C8A93E8CC}"/>
              </a:ext>
            </a:extLst>
          </p:cNvPr>
          <p:cNvSpPr/>
          <p:nvPr/>
        </p:nvSpPr>
        <p:spPr>
          <a:xfrm>
            <a:off x="11006998" y="17084421"/>
            <a:ext cx="1247774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ConvBlock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8304D3-0974-B2EE-17CD-95D038B9EA89}"/>
              </a:ext>
            </a:extLst>
          </p:cNvPr>
          <p:cNvSpPr/>
          <p:nvPr/>
        </p:nvSpPr>
        <p:spPr>
          <a:xfrm>
            <a:off x="12378597" y="17084420"/>
            <a:ext cx="1247774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ConvBlock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C2C5CC1-1CC6-9FC2-CBB2-F5F6DB69699A}"/>
              </a:ext>
            </a:extLst>
          </p:cNvPr>
          <p:cNvSpPr/>
          <p:nvPr/>
        </p:nvSpPr>
        <p:spPr>
          <a:xfrm>
            <a:off x="10533700" y="15989047"/>
            <a:ext cx="1247774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ConvBlock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B84087-D4D5-5E21-3EC4-B79ADF00C3AB}"/>
              </a:ext>
            </a:extLst>
          </p:cNvPr>
          <p:cNvSpPr/>
          <p:nvPr/>
        </p:nvSpPr>
        <p:spPr>
          <a:xfrm>
            <a:off x="11905299" y="15989046"/>
            <a:ext cx="1247774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ConvBlock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7EF974C-5BAA-D3F9-C32A-3490547BBAC0}"/>
              </a:ext>
            </a:extLst>
          </p:cNvPr>
          <p:cNvSpPr/>
          <p:nvPr/>
        </p:nvSpPr>
        <p:spPr>
          <a:xfrm>
            <a:off x="13257848" y="15989047"/>
            <a:ext cx="1247774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ConvBlock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6B7835D-0673-59DC-A961-36015D5B49B4}"/>
              </a:ext>
            </a:extLst>
          </p:cNvPr>
          <p:cNvSpPr/>
          <p:nvPr/>
        </p:nvSpPr>
        <p:spPr>
          <a:xfrm>
            <a:off x="14629447" y="15989046"/>
            <a:ext cx="1247774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ConvBlock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A02C297-E0E3-5F49-7D22-18AF23D6C0A7}"/>
              </a:ext>
            </a:extLst>
          </p:cNvPr>
          <p:cNvSpPr/>
          <p:nvPr/>
        </p:nvSpPr>
        <p:spPr>
          <a:xfrm>
            <a:off x="15981996" y="15989047"/>
            <a:ext cx="1247774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ConvBlock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AFFA5C2-BEEA-5148-9257-A4E28F23AE05}"/>
              </a:ext>
            </a:extLst>
          </p:cNvPr>
          <p:cNvSpPr/>
          <p:nvPr/>
        </p:nvSpPr>
        <p:spPr>
          <a:xfrm>
            <a:off x="17353595" y="15989046"/>
            <a:ext cx="1247774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ConvBlock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8AE7188-A497-A552-6CB4-816AB1B78A87}"/>
              </a:ext>
            </a:extLst>
          </p:cNvPr>
          <p:cNvSpPr/>
          <p:nvPr/>
        </p:nvSpPr>
        <p:spPr>
          <a:xfrm>
            <a:off x="12862370" y="14893669"/>
            <a:ext cx="1247774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ConvBlock</a:t>
            </a:r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4E82EF6-E2DF-88EC-BDAF-75ED51C4A50A}"/>
              </a:ext>
            </a:extLst>
          </p:cNvPr>
          <p:cNvSpPr/>
          <p:nvPr/>
        </p:nvSpPr>
        <p:spPr>
          <a:xfrm>
            <a:off x="6278218" y="18179793"/>
            <a:ext cx="2857151" cy="9429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调整顺序（</a:t>
            </a:r>
            <a:r>
              <a:rPr lang="en-US" altLang="zh-CN" dirty="0"/>
              <a:t>B, 8, 8, 4, 768)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066E11B-790B-5ACA-EBD7-E29043F56097}"/>
              </a:ext>
            </a:extLst>
          </p:cNvPr>
          <p:cNvSpPr/>
          <p:nvPr/>
        </p:nvSpPr>
        <p:spPr>
          <a:xfrm>
            <a:off x="9261637" y="18179794"/>
            <a:ext cx="2857151" cy="9429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合并通道（</a:t>
            </a:r>
            <a:r>
              <a:rPr lang="en-US" altLang="zh-CN" dirty="0"/>
              <a:t>B, 256, 768)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31D6C28-2F1E-54D1-5B84-F2A0389D2C83}"/>
              </a:ext>
            </a:extLst>
          </p:cNvPr>
          <p:cNvSpPr/>
          <p:nvPr/>
        </p:nvSpPr>
        <p:spPr>
          <a:xfrm>
            <a:off x="12254772" y="18179793"/>
            <a:ext cx="6031850" cy="94297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得到 </a:t>
            </a:r>
            <a:r>
              <a:rPr lang="en-US" altLang="zh-CN" dirty="0"/>
              <a:t>256 </a:t>
            </a:r>
            <a:r>
              <a:rPr lang="zh-CN" altLang="en-US" dirty="0"/>
              <a:t>个 </a:t>
            </a:r>
            <a:r>
              <a:rPr lang="en-US" altLang="zh-CN" dirty="0"/>
              <a:t>token</a:t>
            </a:r>
            <a:r>
              <a:rPr lang="zh-CN" altLang="en-US" dirty="0"/>
              <a:t>，每个 </a:t>
            </a:r>
            <a:r>
              <a:rPr lang="en-US" altLang="zh-CN" dirty="0"/>
              <a:t>token </a:t>
            </a:r>
            <a:r>
              <a:rPr lang="zh-CN" altLang="en-US" dirty="0"/>
              <a:t>的 </a:t>
            </a:r>
            <a:r>
              <a:rPr lang="en-US" altLang="zh-CN" dirty="0"/>
              <a:t>embedding </a:t>
            </a:r>
            <a:r>
              <a:rPr lang="zh-CN" altLang="en-US" dirty="0"/>
              <a:t>维度为</a:t>
            </a:r>
            <a:r>
              <a:rPr lang="en-US" altLang="zh-CN" dirty="0"/>
              <a:t> 768</a:t>
            </a:r>
            <a:endParaRPr lang="zh-CN" altLang="en-US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D69FFF7-F9A2-58CA-85EA-845227E0FB9D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551617" y="13174407"/>
            <a:ext cx="123635" cy="0"/>
          </a:xfrm>
          <a:prstGeom prst="straightConnector1">
            <a:avLst/>
          </a:prstGeom>
          <a:ln>
            <a:noFill/>
            <a:tailEnd type="triangle"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1C76561-399F-7242-2376-350E6A522912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051740" y="13174407"/>
            <a:ext cx="123635" cy="0"/>
          </a:xfrm>
          <a:prstGeom prst="straightConnector1">
            <a:avLst/>
          </a:prstGeom>
          <a:ln>
            <a:noFill/>
            <a:tailEnd type="triangle"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78BF83D2-EF28-BB6A-6F71-4774E12F417B}"/>
              </a:ext>
            </a:extLst>
          </p:cNvPr>
          <p:cNvCxnSpPr/>
          <p:nvPr/>
        </p:nvCxnSpPr>
        <p:spPr>
          <a:xfrm>
            <a:off x="1398842" y="12534709"/>
            <a:ext cx="11104595" cy="0"/>
          </a:xfrm>
          <a:prstGeom prst="straightConnector1">
            <a:avLst/>
          </a:prstGeom>
          <a:ln w="571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BF7E9E61-288D-DBC7-0E8E-45D8C66BA1C1}"/>
              </a:ext>
            </a:extLst>
          </p:cNvPr>
          <p:cNvCxnSpPr>
            <a:cxnSpLocks/>
          </p:cNvCxnSpPr>
          <p:nvPr/>
        </p:nvCxnSpPr>
        <p:spPr>
          <a:xfrm>
            <a:off x="4091434" y="13888973"/>
            <a:ext cx="0" cy="5308664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C831816E-4A8F-66D6-4698-749E0CC75F7C}"/>
              </a:ext>
            </a:extLst>
          </p:cNvPr>
          <p:cNvSpPr/>
          <p:nvPr/>
        </p:nvSpPr>
        <p:spPr>
          <a:xfrm>
            <a:off x="26163592" y="37165804"/>
            <a:ext cx="3152775" cy="942975"/>
          </a:xfrm>
          <a:prstGeom prst="rect">
            <a:avLst/>
          </a:prstGeom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VLMQwenForCausalLM</a:t>
            </a:r>
          </a:p>
          <a:p>
            <a:pPr algn="ctr"/>
            <a:r>
              <a:rPr lang="zh-CN" altLang="en-US" sz="2400" b="1" dirty="0"/>
              <a:t>最终的 </a:t>
            </a:r>
            <a:r>
              <a:rPr lang="en-US" altLang="zh-CN" sz="2400" b="1" dirty="0"/>
              <a:t>VLM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A196B7D-FAB1-659D-0ECC-FF0B75F3EBD2}"/>
              </a:ext>
            </a:extLst>
          </p:cNvPr>
          <p:cNvSpPr/>
          <p:nvPr/>
        </p:nvSpPr>
        <p:spPr>
          <a:xfrm>
            <a:off x="30760651" y="38765522"/>
            <a:ext cx="3152775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forward</a:t>
            </a:r>
          </a:p>
          <a:p>
            <a:pPr algn="ctr"/>
            <a:r>
              <a:rPr lang="zh-CN" altLang="en-US" sz="2400" b="1" dirty="0"/>
              <a:t>前向传播</a:t>
            </a:r>
            <a:endParaRPr lang="en-US" altLang="zh-CN" sz="2400" b="1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C06EF05-F99C-03E9-9783-F85B980A9E05}"/>
              </a:ext>
            </a:extLst>
          </p:cNvPr>
          <p:cNvSpPr/>
          <p:nvPr/>
        </p:nvSpPr>
        <p:spPr>
          <a:xfrm>
            <a:off x="30760650" y="39852893"/>
            <a:ext cx="3152775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generate</a:t>
            </a:r>
          </a:p>
          <a:p>
            <a:pPr algn="ctr"/>
            <a:r>
              <a:rPr lang="zh-CN" altLang="en-US" sz="2400" b="1" dirty="0"/>
              <a:t>推理</a:t>
            </a:r>
            <a:endParaRPr lang="en-US" altLang="zh-CN" sz="2400" b="1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A1EE475-6865-55C6-D0E1-9D9F7A8996A3}"/>
              </a:ext>
            </a:extLst>
          </p:cNvPr>
          <p:cNvSpPr/>
          <p:nvPr/>
        </p:nvSpPr>
        <p:spPr>
          <a:xfrm>
            <a:off x="30760651" y="40940264"/>
            <a:ext cx="4310857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prepare_inputs_for_generation</a:t>
            </a:r>
          </a:p>
          <a:p>
            <a:pPr algn="ctr"/>
            <a:r>
              <a:rPr lang="zh-CN" altLang="en-US" sz="2400" b="1" dirty="0"/>
              <a:t>输入每个 </a:t>
            </a:r>
            <a:r>
              <a:rPr lang="en-US" altLang="zh-CN" sz="2400" b="1" dirty="0"/>
              <a:t>token </a:t>
            </a:r>
            <a:r>
              <a:rPr lang="zh-CN" altLang="en-US" sz="2400" b="1" dirty="0"/>
              <a:t>时都附带图片</a:t>
            </a:r>
            <a:endParaRPr lang="en-US" altLang="zh-CN" sz="2400" b="1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3C3E857-113F-C016-D490-4FA4405E01BF}"/>
              </a:ext>
            </a:extLst>
          </p:cNvPr>
          <p:cNvSpPr/>
          <p:nvPr/>
        </p:nvSpPr>
        <p:spPr>
          <a:xfrm>
            <a:off x="24296692" y="33805132"/>
            <a:ext cx="3152775" cy="942975"/>
          </a:xfrm>
          <a:prstGeom prst="rect">
            <a:avLst/>
          </a:prstGeom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Qwen2ForCausalLM</a:t>
            </a:r>
          </a:p>
          <a:p>
            <a:pPr algn="ctr"/>
            <a:r>
              <a:rPr lang="en-US" altLang="zh-CN" sz="2400" b="1" dirty="0"/>
              <a:t>Qwen2</a:t>
            </a:r>
            <a:r>
              <a:rPr lang="zh-CN" altLang="en-US" sz="2400" b="1" dirty="0"/>
              <a:t>因果语言模型</a:t>
            </a:r>
            <a:endParaRPr lang="en-US" altLang="zh-CN" sz="2400" b="1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831816E-4A8F-66D6-4698-749E0CC75F7C}"/>
              </a:ext>
            </a:extLst>
          </p:cNvPr>
          <p:cNvSpPr/>
          <p:nvPr/>
        </p:nvSpPr>
        <p:spPr>
          <a:xfrm>
            <a:off x="28810858" y="33805132"/>
            <a:ext cx="3899584" cy="942975"/>
          </a:xfrm>
          <a:prstGeom prst="rect">
            <a:avLst/>
          </a:prstGeom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/>
              <a:t>VLMMetaForCausalLM</a:t>
            </a:r>
          </a:p>
          <a:p>
            <a:pPr algn="ctr"/>
            <a:r>
              <a:rPr lang="zh-CN" altLang="en-US" sz="2400" b="1" dirty="0"/>
              <a:t>图片模态对语言模型的适配</a:t>
            </a:r>
            <a:endParaRPr lang="en-US" altLang="zh-CN" sz="2400" b="1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106C81B-04AC-2C84-1503-8FADB93E677E}"/>
              </a:ext>
            </a:extLst>
          </p:cNvPr>
          <p:cNvSpPr/>
          <p:nvPr/>
        </p:nvSpPr>
        <p:spPr>
          <a:xfrm>
            <a:off x="33710969" y="31532739"/>
            <a:ext cx="3152775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encode_image</a:t>
            </a:r>
          </a:p>
          <a:p>
            <a:pPr algn="ctr"/>
            <a:r>
              <a:rPr lang="zh-CN" altLang="en-US" sz="2400" b="1" dirty="0"/>
              <a:t>计算图片的 </a:t>
            </a:r>
            <a:r>
              <a:rPr lang="en-US" altLang="zh-CN" sz="2400" b="1" dirty="0"/>
              <a:t>e</a:t>
            </a:r>
            <a:r>
              <a:rPr lang="en-US" altLang="zh-CN" sz="2400" b="1"/>
              <a:t>mbed</a:t>
            </a:r>
            <a:endParaRPr lang="en-US" altLang="zh-CN" sz="2400" b="1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9694B4E-F9CA-600D-B236-75758A6E42C4}"/>
              </a:ext>
            </a:extLst>
          </p:cNvPr>
          <p:cNvSpPr/>
          <p:nvPr/>
        </p:nvSpPr>
        <p:spPr>
          <a:xfrm>
            <a:off x="33710968" y="32669389"/>
            <a:ext cx="4806157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prepare_inputs_for_multimodal</a:t>
            </a:r>
          </a:p>
          <a:p>
            <a:pPr algn="ctr"/>
            <a:r>
              <a:rPr lang="zh-CN" altLang="en-US" sz="2400" b="1" dirty="0"/>
              <a:t>将输入中的图片占位 </a:t>
            </a:r>
            <a:r>
              <a:rPr lang="en-US" altLang="zh-CN" sz="2400" b="1" dirty="0"/>
              <a:t>token </a:t>
            </a:r>
            <a:r>
              <a:rPr lang="zh-CN" altLang="en-US" sz="2400" b="1" dirty="0"/>
              <a:t>替换掉</a:t>
            </a:r>
            <a:endParaRPr lang="en-US" altLang="zh-CN" sz="2400" b="1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E740158-916A-507A-22FA-BA56F6DA5575}"/>
              </a:ext>
            </a:extLst>
          </p:cNvPr>
          <p:cNvSpPr/>
          <p:nvPr/>
        </p:nvSpPr>
        <p:spPr>
          <a:xfrm>
            <a:off x="33710969" y="33806039"/>
            <a:ext cx="3523457" cy="942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Initialize_vision_tokenizer</a:t>
            </a:r>
            <a:br>
              <a:rPr lang="en-US" altLang="zh-CN" sz="2400" b="1" dirty="0"/>
            </a:br>
            <a:r>
              <a:rPr lang="zh-CN" altLang="en-US" sz="2400" b="1" dirty="0"/>
              <a:t>适配新词表</a:t>
            </a:r>
            <a:endParaRPr lang="en-US" altLang="zh-CN" sz="2400" b="1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58253233-8112-E4A4-F3EB-B6EAECC06D44}"/>
              </a:ext>
            </a:extLst>
          </p:cNvPr>
          <p:cNvCxnSpPr>
            <a:stCxn id="42" idx="2"/>
            <a:endCxn id="35" idx="0"/>
          </p:cNvCxnSpPr>
          <p:nvPr/>
        </p:nvCxnSpPr>
        <p:spPr>
          <a:xfrm>
            <a:off x="25873079" y="34748107"/>
            <a:ext cx="1866900" cy="2417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0E4DBF6-F3ED-DA57-0BB0-7BE12DAAA10C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 flipV="1">
            <a:off x="32710442" y="32004227"/>
            <a:ext cx="1000527" cy="2272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7B265263-8D26-DB95-25F7-97EF312997FE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32710442" y="33140877"/>
            <a:ext cx="1000526" cy="1135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9CC246F-CBB5-64E3-BAA4-E497306E40AF}"/>
              </a:ext>
            </a:extLst>
          </p:cNvPr>
          <p:cNvCxnSpPr>
            <a:cxnSpLocks/>
            <a:stCxn id="43" idx="3"/>
            <a:endCxn id="46" idx="1"/>
          </p:cNvCxnSpPr>
          <p:nvPr/>
        </p:nvCxnSpPr>
        <p:spPr>
          <a:xfrm>
            <a:off x="32710442" y="34276620"/>
            <a:ext cx="1000527" cy="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E90EBA0-328F-3C3B-9A14-E5FBA53C6133}"/>
              </a:ext>
            </a:extLst>
          </p:cNvPr>
          <p:cNvCxnSpPr>
            <a:cxnSpLocks/>
            <a:stCxn id="43" idx="2"/>
            <a:endCxn id="35" idx="0"/>
          </p:cNvCxnSpPr>
          <p:nvPr/>
        </p:nvCxnSpPr>
        <p:spPr>
          <a:xfrm flipH="1">
            <a:off x="27739980" y="34748107"/>
            <a:ext cx="3020670" cy="2417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6AA6B01-CF8A-5731-4959-30BCDD9D6730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>
            <a:off x="29316367" y="37637292"/>
            <a:ext cx="1444284" cy="1599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2B2C458B-AC0C-50C5-A370-56A704167E4E}"/>
              </a:ext>
            </a:extLst>
          </p:cNvPr>
          <p:cNvCxnSpPr>
            <a:stCxn id="35" idx="3"/>
            <a:endCxn id="38" idx="1"/>
          </p:cNvCxnSpPr>
          <p:nvPr/>
        </p:nvCxnSpPr>
        <p:spPr>
          <a:xfrm>
            <a:off x="29316367" y="37637292"/>
            <a:ext cx="1444283" cy="2687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BED2BB10-B1B7-7DE3-1174-3DE22C6398CC}"/>
              </a:ext>
            </a:extLst>
          </p:cNvPr>
          <p:cNvCxnSpPr>
            <a:stCxn id="35" idx="3"/>
            <a:endCxn id="39" idx="1"/>
          </p:cNvCxnSpPr>
          <p:nvPr/>
        </p:nvCxnSpPr>
        <p:spPr>
          <a:xfrm>
            <a:off x="29316367" y="37637292"/>
            <a:ext cx="1444284" cy="3774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A2109564-AC9D-53ED-6D84-CFC973DCC4AA}"/>
              </a:ext>
            </a:extLst>
          </p:cNvPr>
          <p:cNvSpPr/>
          <p:nvPr/>
        </p:nvSpPr>
        <p:spPr>
          <a:xfrm>
            <a:off x="30760650" y="37637291"/>
            <a:ext cx="3152775" cy="9429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self.model</a:t>
            </a:r>
          </a:p>
          <a:p>
            <a:pPr algn="ctr"/>
            <a:r>
              <a:rPr lang="zh-CN" altLang="en-US" sz="2400" b="1" dirty="0"/>
              <a:t>模型定义</a:t>
            </a:r>
            <a:endParaRPr lang="en-US" altLang="zh-CN" sz="2400" b="1" dirty="0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9F753CE1-B401-A816-151D-13C31CA2826E}"/>
              </a:ext>
            </a:extLst>
          </p:cNvPr>
          <p:cNvCxnSpPr>
            <a:stCxn id="35" idx="3"/>
            <a:endCxn id="67" idx="1"/>
          </p:cNvCxnSpPr>
          <p:nvPr/>
        </p:nvCxnSpPr>
        <p:spPr>
          <a:xfrm>
            <a:off x="29316367" y="37637292"/>
            <a:ext cx="1444283" cy="471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97F3DDF8-4F4C-087D-1F23-CE8D14F8E075}"/>
              </a:ext>
            </a:extLst>
          </p:cNvPr>
          <p:cNvSpPr/>
          <p:nvPr/>
        </p:nvSpPr>
        <p:spPr>
          <a:xfrm>
            <a:off x="34587326" y="37636383"/>
            <a:ext cx="3523457" cy="942975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VLMQwenModel</a:t>
            </a:r>
          </a:p>
          <a:p>
            <a:pPr algn="ctr"/>
            <a:r>
              <a:rPr lang="zh-CN" altLang="en-US" sz="2400" b="1" dirty="0"/>
              <a:t>模型 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输出为隐藏状态</a:t>
            </a:r>
            <a:r>
              <a:rPr lang="en-US" altLang="zh-CN" sz="2400" b="1" dirty="0"/>
              <a:t>)</a:t>
            </a: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9E9DB81B-4012-66B0-EBC2-B7330915A7E8}"/>
              </a:ext>
            </a:extLst>
          </p:cNvPr>
          <p:cNvCxnSpPr>
            <a:cxnSpLocks/>
            <a:stCxn id="67" idx="3"/>
            <a:endCxn id="71" idx="1"/>
          </p:cNvCxnSpPr>
          <p:nvPr/>
        </p:nvCxnSpPr>
        <p:spPr>
          <a:xfrm flipV="1">
            <a:off x="33913425" y="38107871"/>
            <a:ext cx="673901" cy="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>
            <a:extLst>
              <a:ext uri="{FF2B5EF4-FFF2-40B4-BE49-F238E27FC236}">
                <a16:creationId xmlns:a16="http://schemas.microsoft.com/office/drawing/2014/main" id="{17121F2F-66AF-D039-BF2C-80C74BAC578C}"/>
              </a:ext>
            </a:extLst>
          </p:cNvPr>
          <p:cNvSpPr/>
          <p:nvPr/>
        </p:nvSpPr>
        <p:spPr>
          <a:xfrm>
            <a:off x="32825597" y="35656598"/>
            <a:ext cx="3523457" cy="942975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Qwen2Model</a:t>
            </a:r>
          </a:p>
          <a:p>
            <a:pPr algn="ctr"/>
            <a:r>
              <a:rPr lang="zh-CN" altLang="en-US" sz="2400" b="1" dirty="0"/>
              <a:t>模型 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输出为隐藏状态</a:t>
            </a:r>
            <a:r>
              <a:rPr lang="en-US" altLang="zh-CN" sz="2400" b="1" dirty="0"/>
              <a:t>)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4330B7F-ED2E-CFD2-815D-F5BD4604B1C8}"/>
              </a:ext>
            </a:extLst>
          </p:cNvPr>
          <p:cNvSpPr/>
          <p:nvPr/>
        </p:nvSpPr>
        <p:spPr>
          <a:xfrm>
            <a:off x="36499881" y="35656597"/>
            <a:ext cx="5120132" cy="942975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50800" dist="50800" dir="3360000" sx="99000" sy="99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VLMMetaModel</a:t>
            </a:r>
          </a:p>
          <a:p>
            <a:pPr algn="ctr"/>
            <a:r>
              <a:rPr lang="zh-CN" altLang="en-US" sz="2400" b="1" dirty="0"/>
              <a:t>负责构建 </a:t>
            </a:r>
            <a:r>
              <a:rPr lang="en-US" altLang="zh-CN" sz="2400" b="1" dirty="0"/>
              <a:t>Vision Encoder </a:t>
            </a:r>
            <a:r>
              <a:rPr lang="zh-CN" altLang="en-US" sz="2400" b="1" dirty="0"/>
              <a:t>和 </a:t>
            </a:r>
            <a:r>
              <a:rPr lang="en-US" altLang="zh-CN" sz="2400" b="1" dirty="0"/>
              <a:t>Projecter</a:t>
            </a: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0920FBF1-69A3-1200-8BC8-9F7CBBD83130}"/>
              </a:ext>
            </a:extLst>
          </p:cNvPr>
          <p:cNvCxnSpPr>
            <a:stCxn id="83" idx="2"/>
            <a:endCxn id="71" idx="0"/>
          </p:cNvCxnSpPr>
          <p:nvPr/>
        </p:nvCxnSpPr>
        <p:spPr>
          <a:xfrm>
            <a:off x="34587326" y="36599573"/>
            <a:ext cx="1761729" cy="1036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0FCAD08C-DD57-94F0-46FE-4502CD4D1170}"/>
              </a:ext>
            </a:extLst>
          </p:cNvPr>
          <p:cNvCxnSpPr>
            <a:stCxn id="84" idx="2"/>
            <a:endCxn id="71" idx="0"/>
          </p:cNvCxnSpPr>
          <p:nvPr/>
        </p:nvCxnSpPr>
        <p:spPr>
          <a:xfrm flipH="1">
            <a:off x="36349055" y="36599572"/>
            <a:ext cx="2710892" cy="1036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235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1677</TotalTime>
  <Words>240</Words>
  <Application>Microsoft Office PowerPoint</Application>
  <PresentationFormat>自定义</PresentationFormat>
  <Paragraphs>52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 刘</dc:creator>
  <cp:lastModifiedBy>hy 刘</cp:lastModifiedBy>
  <cp:revision>16</cp:revision>
  <dcterms:created xsi:type="dcterms:W3CDTF">2026-01-25T14:33:31Z</dcterms:created>
  <dcterms:modified xsi:type="dcterms:W3CDTF">2026-01-30T03:41:57Z</dcterms:modified>
</cp:coreProperties>
</file>